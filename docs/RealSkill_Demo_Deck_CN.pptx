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4.png"/><Relationship Id="rId3" Type="http://schemas.openxmlformats.org/officeDocument/2006/relationships/tags" Target="../tags/tag1.xml"/><Relationship Id="rId4" Type="http://schemas.openxmlformats.org/officeDocument/2006/relationships/tags" Target="../tags/tag2.xml"/><Relationship Id="rId5" Type="http://schemas.openxmlformats.org/officeDocument/2006/relationships/tags" Target="../tags/tag3.xml"/><Relationship Id="rId6" Type="http://schemas.openxmlformats.org/officeDocument/2006/relationships/tags" Target="../tags/tag4.xml"/><Relationship Id="rId7" Type="http://schemas.openxmlformats.org/officeDocument/2006/relationships/tags" Target="../tags/tag5.xml"/><Relationship Id="rId8" Type="http://schemas.openxmlformats.org/officeDocument/2006/relationships/tags" Target="../tags/tag6.xml"/><Relationship Id="rId9" Type="http://schemas.openxmlformats.org/officeDocument/2006/relationships/tags" Target="../tags/tag7.xml"/><Relationship Id="rId10" Type="http://schemas.openxmlformats.org/officeDocument/2006/relationships/tags" Target="../tags/tag8.xml"/><Relationship Id="rId11" Type="http://schemas.openxmlformats.org/officeDocument/2006/relationships/tags" Target="../tags/tag9.xml"/><Relationship Id="rId12" Type="http://schemas.openxmlformats.org/officeDocument/2006/relationships/tags" Target="../tags/tag10.xml"/><Relationship Id="rId13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945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9260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782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097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412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043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4358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1673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8988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7315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146304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19456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292608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65760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43891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12064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85216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731520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80467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realskill-logo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438912"/>
            <a:ext cx="384048" cy="38404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15568" y="402336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D1B1B"/>
                </a:solidFill>
                <a:latin typeface="Aptos"/>
              </a:rPr>
              <a:t>RealSkill</a:t>
            </a:r>
            <a:endParaRPr sz="20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2960" y="1234440"/>
            <a:ext cx="2254885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B905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 Agent 社交文案工作台</a:t>
            </a:r>
            <a:endParaRPr sz="1400" b="1">
              <a:solidFill>
                <a:srgbClr val="B905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2960" y="1554480"/>
            <a:ext cx="6400800" cy="1508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7600" b="1">
                <a:solidFill>
                  <a:srgbClr val="1D1B1B"/>
                </a:solidFill>
                <a:latin typeface="Aptos Display"/>
              </a:rPr>
              <a:t>RealSkill</a:t>
            </a:r>
            <a:endParaRPr sz="7600" b="1">
              <a:solidFill>
                <a:srgbClr val="1D1B1B"/>
              </a:solidFill>
              <a:latin typeface="Aptos Display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68680" y="2971800"/>
            <a:ext cx="621792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2200">
                <a:solidFill>
                  <a:srgbClr val="645F58"/>
                </a:solidFill>
                <a:latin typeface="微软雅黑" panose="020B0503020204020204" charset="-122"/>
              </a:rPr>
              <a:t>用多 Agent 写作面板，生成平台原生社交文案。</a:t>
            </a:r>
            <a:endParaRPr sz="2200">
              <a:solidFill>
                <a:srgbClr val="645F58"/>
              </a:solidFill>
              <a:latin typeface="Aptos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868680" y="4069080"/>
            <a:ext cx="132588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E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3271" y="4146804"/>
            <a:ext cx="996695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B90533"/>
                </a:solidFill>
                <a:latin typeface="微软雅黑" panose="020B0503020204020204" charset="-122"/>
              </a:rPr>
              <a:t>网页工作台</a:t>
            </a:r>
            <a:endParaRPr sz="950" b="1">
              <a:solidFill>
                <a:srgbClr val="B90533"/>
              </a:solidFill>
              <a:latin typeface="Aptos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2331720" y="4069080"/>
            <a:ext cx="164592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E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96312" y="4146804"/>
            <a:ext cx="131673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006A65"/>
                </a:solidFill>
                <a:latin typeface="微软雅黑" panose="020B0503020204020204" charset="-122"/>
              </a:rPr>
              <a:t>本地 Agent Skill</a:t>
            </a:r>
            <a:endParaRPr sz="950" b="1">
              <a:solidFill>
                <a:srgbClr val="006A65"/>
              </a:solidFill>
              <a:latin typeface="Aptos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4251960" y="4069080"/>
            <a:ext cx="1508760" cy="347472"/>
          </a:xfrm>
          <a:prstGeom prst="roundRect">
            <a:avLst/>
          </a:prstGeom>
          <a:solidFill>
            <a:srgbClr val="FFFFFF"/>
          </a:solidFill>
          <a:ln>
            <a:solidFill>
              <a:srgbClr val="DE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16552" y="4146804"/>
            <a:ext cx="1179576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50" b="1">
                <a:solidFill>
                  <a:srgbClr val="2759C7"/>
                </a:solidFill>
                <a:latin typeface="微软雅黑" panose="020B0503020204020204" charset="-122"/>
              </a:rPr>
              <a:t>报告资产</a:t>
            </a:r>
            <a:endParaRPr sz="950" b="1">
              <a:solidFill>
                <a:srgbClr val="2759C7"/>
              </a:solidFill>
              <a:latin typeface="Aptos"/>
            </a:endParaRPr>
          </a:p>
        </p:txBody>
      </p:sp>
      <p:pic>
        <p:nvPicPr>
          <p:cNvPr id="44" name="Picture 43" descr="01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8610" y="1508760"/>
            <a:ext cx="5626735" cy="390779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13395960" y="7571231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45F58"/>
                </a:solidFill>
                <a:latin typeface="Aptos"/>
              </a:rPr>
              <a:t>01/12</a:t>
            </a:r>
            <a:endParaRPr sz="900" b="1">
              <a:solidFill>
                <a:srgbClr val="645F5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945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9260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782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097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412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043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4358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1673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8988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7315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146304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19456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292608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65760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43891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12064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85216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731520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80467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realskill-logo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438912"/>
            <a:ext cx="384048" cy="38404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15568" y="402336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D1B1B"/>
                </a:solidFill>
                <a:latin typeface="Aptos"/>
              </a:rPr>
              <a:t>RealSkill</a:t>
            </a:r>
            <a:endParaRPr sz="20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2960" y="107899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B90533"/>
                </a:solidFill>
                <a:latin typeface="微软雅黑" panose="020B0503020204020204" charset="-122"/>
              </a:rPr>
              <a:t>问题</a:t>
            </a:r>
            <a:endParaRPr sz="1050" b="1">
              <a:solidFill>
                <a:srgbClr val="B90533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2960" y="1417320"/>
            <a:ext cx="6858000" cy="1508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4600" b="1">
                <a:solidFill>
                  <a:srgbClr val="1D1B1B"/>
                </a:solidFill>
                <a:latin typeface="微软雅黑" panose="020B0503020204020204" charset="-122"/>
              </a:rPr>
              <a:t>普通 AI 文案还是太像 AI。</a:t>
            </a:r>
            <a:endParaRPr sz="4600" b="1">
              <a:solidFill>
                <a:srgbClr val="1D1B1B"/>
              </a:solidFill>
              <a:latin typeface="Aptos Display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68680" y="2880360"/>
            <a:ext cx="603504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>
                <a:solidFill>
                  <a:srgbClr val="645F58"/>
                </a:solidFill>
                <a:latin typeface="微软雅黑" panose="020B0503020204020204" charset="-122"/>
              </a:rPr>
              <a:t>社交平台真正需要的是节奏、语境和生活感；一段通顺的文字远远不够。</a:t>
            </a:r>
            <a:endParaRPr sz="1800">
              <a:solidFill>
                <a:srgbClr val="645F58"/>
              </a:solidFill>
              <a:latin typeface="Aptos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868680" y="4197096"/>
            <a:ext cx="100584" cy="100584"/>
          </a:xfrm>
          <a:prstGeom prst="ellipse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4069080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D1B1B"/>
                </a:solidFill>
                <a:latin typeface="微软雅黑" panose="020B0503020204020204" charset="-122"/>
              </a:rPr>
              <a:t>跨平台语气雷同</a:t>
            </a:r>
            <a:endParaRPr sz="1900">
              <a:solidFill>
                <a:srgbClr val="1D1B1B"/>
              </a:solidFill>
              <a:latin typeface="Aptos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868680" y="4764024"/>
            <a:ext cx="100584" cy="100584"/>
          </a:xfrm>
          <a:prstGeom prst="ellipse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4636008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D1B1B"/>
                </a:solidFill>
                <a:latin typeface="微软雅黑" panose="020B0503020204020204" charset="-122"/>
              </a:rPr>
              <a:t>创作者风格迁移弱</a:t>
            </a:r>
            <a:endParaRPr sz="1900">
              <a:solidFill>
                <a:srgbClr val="1D1B1B"/>
              </a:solidFill>
              <a:latin typeface="Aptos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868680" y="5330952"/>
            <a:ext cx="100584" cy="100584"/>
          </a:xfrm>
          <a:prstGeom prst="ellipse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5202936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D1B1B"/>
                </a:solidFill>
                <a:latin typeface="微软雅黑" panose="020B0503020204020204" charset="-122"/>
              </a:rPr>
              <a:t>缺少透明质检</a:t>
            </a:r>
            <a:endParaRPr sz="1900">
              <a:solidFill>
                <a:srgbClr val="1D1B1B"/>
              </a:solidFill>
              <a:latin typeface="Aptos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868680" y="5897880"/>
            <a:ext cx="100584" cy="100584"/>
          </a:xfrm>
          <a:prstGeom prst="ellipse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5769864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>
                <a:solidFill>
                  <a:srgbClr val="1D1B1B"/>
                </a:solidFill>
                <a:latin typeface="微软雅黑" panose="020B0503020204020204" charset="-122"/>
              </a:rPr>
              <a:t>结果难以沉淀为资产</a:t>
            </a:r>
            <a:endParaRPr sz="1900">
              <a:solidFill>
                <a:srgbClr val="1D1B1B"/>
              </a:solidFill>
              <a:latin typeface="Aptos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8366760" y="1874519"/>
            <a:ext cx="484632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DE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366760" y="1874519"/>
            <a:ext cx="4846320" cy="54864"/>
          </a:xfrm>
          <a:prstGeom prst="rect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22792" y="2148839"/>
            <a:ext cx="43342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1B1B"/>
                </a:solidFill>
                <a:latin typeface="微软雅黑" panose="020B0503020204020204" charset="-122"/>
              </a:rPr>
              <a:t>核心缺口</a:t>
            </a:r>
            <a:endParaRPr sz="17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622792" y="2651760"/>
            <a:ext cx="4334256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645F58"/>
                </a:solidFill>
                <a:latin typeface="微软雅黑" panose="020B0503020204020204" charset="-122"/>
              </a:rPr>
              <a:t>创作者需要的是像平台原生内容的文案，而不只是语法正确的文本。</a:t>
            </a:r>
            <a:endParaRPr sz="1350">
              <a:solidFill>
                <a:srgbClr val="645F58"/>
              </a:solidFill>
              <a:latin typeface="Apto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3395960" y="7571231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45F58"/>
                </a:solidFill>
                <a:latin typeface="Aptos"/>
              </a:rPr>
              <a:t>02/12</a:t>
            </a:r>
            <a:endParaRPr sz="900" b="1">
              <a:solidFill>
                <a:srgbClr val="645F5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945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9260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782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097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412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043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4358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1673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8988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7315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146304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19456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292608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65760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43891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12064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85216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731520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80467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realskill-logo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438912"/>
            <a:ext cx="384048" cy="38404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15568" y="402336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D1B1B"/>
                </a:solidFill>
                <a:latin typeface="Aptos"/>
              </a:rPr>
              <a:t>RealSkill</a:t>
            </a:r>
            <a:endParaRPr sz="20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2960" y="107899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B90533"/>
                </a:solidFill>
                <a:latin typeface="微软雅黑" panose="020B0503020204020204" charset="-122"/>
              </a:rPr>
              <a:t>用户</a:t>
            </a:r>
            <a:endParaRPr sz="1050" b="1">
              <a:solidFill>
                <a:srgbClr val="B90533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2960" y="1417320"/>
            <a:ext cx="6858000" cy="1508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4600" b="1">
                <a:solidFill>
                  <a:srgbClr val="1D1B1B"/>
                </a:solidFill>
                <a:latin typeface="微软雅黑" panose="020B0503020204020204" charset="-122"/>
              </a:rPr>
              <a:t>面向创作者工作流设计。</a:t>
            </a:r>
            <a:endParaRPr sz="4600" b="1">
              <a:solidFill>
                <a:srgbClr val="1D1B1B"/>
              </a:solidFill>
              <a:latin typeface="Aptos Display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68680" y="2834640"/>
            <a:ext cx="612648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>
                <a:solidFill>
                  <a:srgbClr val="645F58"/>
                </a:solidFill>
                <a:latin typeface="微软雅黑" panose="020B0503020204020204" charset="-122"/>
              </a:rPr>
              <a:t>RealSkill 服务于需要不断把粗略想法转成多平台内容的人。</a:t>
            </a:r>
            <a:endParaRPr sz="1800">
              <a:solidFill>
                <a:srgbClr val="645F58"/>
              </a:solidFill>
              <a:latin typeface="Aptos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7498079" y="1508760"/>
            <a:ext cx="29260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498079" y="1508760"/>
            <a:ext cx="2926080" cy="54864"/>
          </a:xfrm>
          <a:prstGeom prst="rect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54111" y="1783080"/>
            <a:ext cx="24140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1B1B"/>
                </a:solidFill>
                <a:latin typeface="微软雅黑" panose="020B0503020204020204" charset="-122"/>
              </a:rPr>
              <a:t>创作者</a:t>
            </a:r>
            <a:endParaRPr sz="17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754111" y="2286000"/>
            <a:ext cx="24140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645F58"/>
                </a:solidFill>
                <a:latin typeface="微软雅黑" panose="020B0503020204020204" charset="-122"/>
              </a:rPr>
              <a:t>节省时间，同时保留自然个人语气。</a:t>
            </a:r>
            <a:endParaRPr sz="1350">
              <a:solidFill>
                <a:srgbClr val="645F58"/>
              </a:solidFill>
              <a:latin typeface="Aptos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10744200" y="1508760"/>
            <a:ext cx="29260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744200" y="1508760"/>
            <a:ext cx="2926080" cy="54864"/>
          </a:xfrm>
          <a:prstGeom prst="rect">
            <a:avLst/>
          </a:prstGeom>
          <a:solidFill>
            <a:srgbClr val="006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000232" y="1783080"/>
            <a:ext cx="24140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1B1B"/>
                </a:solidFill>
                <a:latin typeface="微软雅黑" panose="020B0503020204020204" charset="-122"/>
              </a:rPr>
              <a:t>校园社区</a:t>
            </a:r>
            <a:endParaRPr sz="17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1000232" y="2286000"/>
            <a:ext cx="24140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645F58"/>
                </a:solidFill>
                <a:latin typeface="微软雅黑" panose="020B0503020204020204" charset="-122"/>
              </a:rPr>
              <a:t>生成本地攻略、活动和社区更新。</a:t>
            </a:r>
            <a:endParaRPr sz="1350">
              <a:solidFill>
                <a:srgbClr val="645F58"/>
              </a:solidFill>
              <a:latin typeface="Aptos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7498079" y="3657600"/>
            <a:ext cx="29260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498079" y="3657600"/>
            <a:ext cx="2926080" cy="54864"/>
          </a:xfrm>
          <a:prstGeom prst="rect">
            <a:avLst/>
          </a:prstGeom>
          <a:solidFill>
            <a:srgbClr val="275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54111" y="3931920"/>
            <a:ext cx="24140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1B1B"/>
                </a:solidFill>
                <a:latin typeface="微软雅黑" panose="020B0503020204020204" charset="-122"/>
              </a:rPr>
              <a:t>独立品牌</a:t>
            </a:r>
            <a:endParaRPr sz="17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754111" y="4434840"/>
            <a:ext cx="24140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645F58"/>
                </a:solidFill>
                <a:latin typeface="微软雅黑" panose="020B0503020204020204" charset="-122"/>
              </a:rPr>
              <a:t>把产品卖点改写成适合社交平台的节奏。</a:t>
            </a:r>
            <a:endParaRPr sz="1350">
              <a:solidFill>
                <a:srgbClr val="645F58"/>
              </a:solidFill>
              <a:latin typeface="Aptos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10744200" y="3657600"/>
            <a:ext cx="292608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744200" y="3657600"/>
            <a:ext cx="2926080" cy="54864"/>
          </a:xfrm>
          <a:prstGeom prst="rect">
            <a:avLst/>
          </a:prstGeom>
          <a:solidFill>
            <a:srgbClr val="B97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000232" y="3931920"/>
            <a:ext cx="24140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1B1B"/>
                </a:solidFill>
                <a:latin typeface="微软雅黑" panose="020B0503020204020204" charset="-122"/>
              </a:rPr>
              <a:t>内容团队</a:t>
            </a:r>
            <a:endParaRPr sz="17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1000232" y="4434840"/>
            <a:ext cx="241401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645F58"/>
                </a:solidFill>
                <a:latin typeface="微软雅黑" panose="020B0503020204020204" charset="-122"/>
              </a:rPr>
              <a:t>对比草稿，并向客户解释创作方向。</a:t>
            </a:r>
            <a:endParaRPr sz="1350">
              <a:solidFill>
                <a:srgbClr val="645F58"/>
              </a:solidFill>
              <a:latin typeface="Aptos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3395960" y="7571231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45F58"/>
                </a:solidFill>
                <a:latin typeface="Aptos"/>
              </a:rPr>
              <a:t>03/12</a:t>
            </a:r>
            <a:endParaRPr sz="900" b="1">
              <a:solidFill>
                <a:srgbClr val="645F5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945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9260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782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097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412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043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4358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1673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8988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7315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146304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19456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292608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65760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43891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12064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85216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731520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80467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realskill-logo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438912"/>
            <a:ext cx="384048" cy="38404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15568" y="402336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D1B1B"/>
                </a:solidFill>
                <a:latin typeface="Aptos"/>
              </a:rPr>
              <a:t>RealSkill</a:t>
            </a:r>
            <a:endParaRPr sz="20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2960" y="107899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B90533"/>
                </a:solidFill>
                <a:latin typeface="微软雅黑" panose="020B0503020204020204" charset="-122"/>
              </a:rPr>
              <a:t>解决方案</a:t>
            </a:r>
            <a:endParaRPr sz="1050" b="1">
              <a:solidFill>
                <a:srgbClr val="B90533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2960" y="1417320"/>
            <a:ext cx="7040880" cy="1508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4600" b="1">
                <a:solidFill>
                  <a:srgbClr val="1D1B1B"/>
                </a:solidFill>
                <a:latin typeface="微软雅黑" panose="020B0503020204020204" charset="-122"/>
              </a:rPr>
              <a:t>一个带检索、Agent 和报告的写作面板。</a:t>
            </a:r>
            <a:endParaRPr sz="4600" b="1">
              <a:solidFill>
                <a:srgbClr val="1D1B1B"/>
              </a:solidFill>
              <a:latin typeface="Aptos Display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68680" y="2971800"/>
            <a:ext cx="612648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>
                <a:solidFill>
                  <a:srgbClr val="645F58"/>
                </a:solidFill>
                <a:latin typeface="微软雅黑" panose="020B0503020204020204" charset="-122"/>
              </a:rPr>
              <a:t>用户输入主题、选择平台，也可以加入风格参考；RealSkill 负责完整写作流程。</a:t>
            </a:r>
            <a:endParaRPr sz="1800">
              <a:solidFill>
                <a:srgbClr val="645F58"/>
              </a:solidFill>
              <a:latin typeface="Aptos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868680" y="4334255"/>
            <a:ext cx="100584" cy="100584"/>
          </a:xfrm>
          <a:prstGeom prst="ellipse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4206240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D1B1B"/>
                </a:solidFill>
                <a:latin typeface="微软雅黑" panose="020B0503020204020204" charset="-122"/>
              </a:rPr>
              <a:t>写作前检索趋势记忆</a:t>
            </a:r>
            <a:endParaRPr sz="1800">
              <a:solidFill>
                <a:srgbClr val="1D1B1B"/>
              </a:solidFill>
              <a:latin typeface="Aptos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868680" y="4901183"/>
            <a:ext cx="100584" cy="100584"/>
          </a:xfrm>
          <a:prstGeom prst="ellipse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4773168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D1B1B"/>
                </a:solidFill>
                <a:latin typeface="微软雅黑" panose="020B0503020204020204" charset="-122"/>
              </a:rPr>
              <a:t>三个专职 Agent 草稿</a:t>
            </a:r>
            <a:endParaRPr sz="1800">
              <a:solidFill>
                <a:srgbClr val="1D1B1B"/>
              </a:solidFill>
              <a:latin typeface="Aptos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868680" y="5468112"/>
            <a:ext cx="100584" cy="100584"/>
          </a:xfrm>
          <a:prstGeom prst="ellipse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5340096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D1B1B"/>
                </a:solidFill>
                <a:latin typeface="微软雅黑" panose="020B0503020204020204" charset="-122"/>
              </a:rPr>
              <a:t>Judge 打分并选择赢家</a:t>
            </a:r>
            <a:endParaRPr sz="1800">
              <a:solidFill>
                <a:srgbClr val="1D1B1B"/>
              </a:solidFill>
              <a:latin typeface="Aptos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868680" y="6035039"/>
            <a:ext cx="100584" cy="100584"/>
          </a:xfrm>
          <a:prstGeom prst="ellipse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5907023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D1B1B"/>
                </a:solidFill>
                <a:latin typeface="微软雅黑" panose="020B0503020204020204" charset="-122"/>
              </a:rPr>
              <a:t>输出可发布的报告结果</a:t>
            </a:r>
            <a:endParaRPr sz="1800">
              <a:solidFill>
                <a:srgbClr val="1D1B1B"/>
              </a:solidFill>
              <a:latin typeface="Aptos"/>
            </a:endParaRPr>
          </a:p>
        </p:txBody>
      </p:sp>
      <p:pic>
        <p:nvPicPr>
          <p:cNvPr id="46" name="Picture 45" descr="02-genera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6685" y="1632585"/>
            <a:ext cx="5764530" cy="4003675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13395960" y="7571231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45F58"/>
                </a:solidFill>
                <a:latin typeface="Aptos"/>
              </a:rPr>
              <a:t>04/12</a:t>
            </a:r>
            <a:endParaRPr sz="900" b="1">
              <a:solidFill>
                <a:srgbClr val="645F5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945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9260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782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097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412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043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4358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1673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8988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7315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146304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19456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292608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65760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43891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12064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85216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731520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80467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realskill-logo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438912"/>
            <a:ext cx="384048" cy="38404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15568" y="402336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D1B1B"/>
                </a:solidFill>
                <a:latin typeface="Aptos"/>
              </a:rPr>
              <a:t>RealSkill</a:t>
            </a:r>
            <a:endParaRPr sz="20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2960" y="107899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B90533"/>
                </a:solidFill>
                <a:latin typeface="微软雅黑" panose="020B0503020204020204" charset="-122"/>
              </a:rPr>
              <a:t>演示流程</a:t>
            </a:r>
            <a:endParaRPr sz="1050" b="1">
              <a:solidFill>
                <a:srgbClr val="B90533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2960" y="1417320"/>
            <a:ext cx="6583680" cy="1508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4600" b="1">
                <a:solidFill>
                  <a:srgbClr val="1D1B1B"/>
                </a:solidFill>
                <a:latin typeface="微软雅黑" panose="020B0503020204020204" charset="-122"/>
              </a:rPr>
              <a:t>输入，运行，报告。</a:t>
            </a:r>
            <a:endParaRPr sz="4600" b="1">
              <a:solidFill>
                <a:srgbClr val="1D1B1B"/>
              </a:solidFill>
              <a:latin typeface="Aptos Display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68680" y="2834640"/>
            <a:ext cx="585216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>
                <a:solidFill>
                  <a:srgbClr val="645F58"/>
                </a:solidFill>
                <a:latin typeface="微软雅黑" panose="020B0503020204020204" charset="-122"/>
              </a:rPr>
              <a:t>流程刻意保持简单：产品在生成过程中解释每一步正在发生什么。</a:t>
            </a:r>
            <a:endParaRPr sz="1800">
              <a:solidFill>
                <a:srgbClr val="645F58"/>
              </a:solidFill>
              <a:latin typeface="Aptos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914400" y="4160520"/>
            <a:ext cx="38404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4400" y="4160520"/>
            <a:ext cx="3840480" cy="54864"/>
          </a:xfrm>
          <a:prstGeom prst="rect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70432" y="4434840"/>
            <a:ext cx="33284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1B1B"/>
                </a:solidFill>
                <a:latin typeface="微软雅黑" panose="020B0503020204020204" charset="-122"/>
              </a:rPr>
              <a:t>1. 输入需求</a:t>
            </a:r>
            <a:endParaRPr sz="17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170432" y="4937759"/>
            <a:ext cx="3328416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645F58"/>
                </a:solidFill>
                <a:latin typeface="微软雅黑" panose="020B0503020204020204" charset="-122"/>
              </a:rPr>
              <a:t>主题、平台和可选风格参考。</a:t>
            </a:r>
            <a:endParaRPr sz="1350">
              <a:solidFill>
                <a:srgbClr val="645F58"/>
              </a:solidFill>
              <a:latin typeface="Aptos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5394960" y="4160520"/>
            <a:ext cx="38404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394960" y="4160520"/>
            <a:ext cx="3840480" cy="54864"/>
          </a:xfrm>
          <a:prstGeom prst="rect">
            <a:avLst/>
          </a:prstGeom>
          <a:solidFill>
            <a:srgbClr val="006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50992" y="4434840"/>
            <a:ext cx="33284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1B1B"/>
                </a:solidFill>
                <a:latin typeface="微软雅黑" panose="020B0503020204020204" charset="-122"/>
              </a:rPr>
              <a:t>2. Agent 运行</a:t>
            </a:r>
            <a:endParaRPr sz="17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650992" y="4937759"/>
            <a:ext cx="3328416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645F58"/>
                </a:solidFill>
                <a:latin typeface="微软雅黑" panose="020B0503020204020204" charset="-122"/>
              </a:rPr>
              <a:t>检索、Agent A/B/C、Judge 选择和真人化处理。</a:t>
            </a:r>
            <a:endParaRPr sz="1350">
              <a:solidFill>
                <a:srgbClr val="645F58"/>
              </a:solidFill>
              <a:latin typeface="Aptos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9875520" y="4160520"/>
            <a:ext cx="38404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E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875520" y="4160520"/>
            <a:ext cx="3840480" cy="54864"/>
          </a:xfrm>
          <a:prstGeom prst="rect">
            <a:avLst/>
          </a:prstGeom>
          <a:solidFill>
            <a:srgbClr val="275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131552" y="4434840"/>
            <a:ext cx="33284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1B1B"/>
                </a:solidFill>
                <a:latin typeface="微软雅黑" panose="020B0503020204020204" charset="-122"/>
              </a:rPr>
              <a:t>3. 查看报告</a:t>
            </a:r>
            <a:endParaRPr sz="17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0131552" y="4937759"/>
            <a:ext cx="3328416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645F58"/>
                </a:solidFill>
                <a:latin typeface="微软雅黑" panose="020B0503020204020204" charset="-122"/>
              </a:rPr>
              <a:t>最终文案、评分、草稿、图表和说明。</a:t>
            </a:r>
            <a:endParaRPr sz="1350">
              <a:solidFill>
                <a:srgbClr val="645F58"/>
              </a:solidFill>
              <a:latin typeface="Apto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3395960" y="7571231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45F58"/>
                </a:solidFill>
                <a:latin typeface="Aptos"/>
              </a:rPr>
              <a:t>05/12</a:t>
            </a:r>
            <a:endParaRPr sz="900" b="1">
              <a:solidFill>
                <a:srgbClr val="645F5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945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9260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782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097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412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043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4358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1673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8988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7315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146304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19456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292608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65760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43891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12064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85216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731520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80467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realskill-logo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438912"/>
            <a:ext cx="384048" cy="38404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15568" y="402336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D1B1B"/>
                </a:solidFill>
                <a:latin typeface="Aptos"/>
              </a:rPr>
              <a:t>RealSkill</a:t>
            </a:r>
            <a:endParaRPr sz="20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2960" y="107899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B90533"/>
                </a:solidFill>
                <a:latin typeface="微软雅黑" panose="020B0503020204020204" charset="-122"/>
              </a:rPr>
              <a:t>Agent 流程</a:t>
            </a:r>
            <a:endParaRPr sz="1050" b="1">
              <a:solidFill>
                <a:srgbClr val="B90533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2960" y="1417320"/>
            <a:ext cx="7040880" cy="1508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4600" b="1">
                <a:solidFill>
                  <a:srgbClr val="1D1B1B"/>
                </a:solidFill>
                <a:latin typeface="微软雅黑" panose="020B0503020204020204" charset="-122"/>
              </a:rPr>
              <a:t>不同 Agent，负责不同写作直觉。</a:t>
            </a:r>
            <a:endParaRPr sz="4600" b="1">
              <a:solidFill>
                <a:srgbClr val="1D1B1B"/>
              </a:solidFill>
              <a:latin typeface="Aptos Display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68680" y="2788920"/>
            <a:ext cx="585216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>
                <a:solidFill>
                  <a:srgbClr val="645F58"/>
                </a:solidFill>
                <a:latin typeface="微软雅黑" panose="020B0503020204020204" charset="-122"/>
              </a:rPr>
              <a:t>RealSkill 通过拆分创作角色和评审结果，避免只给出一个固定答案。</a:t>
            </a:r>
            <a:endParaRPr sz="1800">
              <a:solidFill>
                <a:srgbClr val="645F58"/>
              </a:solidFill>
              <a:latin typeface="Aptos"/>
            </a:endParaRPr>
          </a:p>
        </p:txBody>
      </p:sp>
      <p:pic>
        <p:nvPicPr>
          <p:cNvPr id="38" name="Picture 37" descr="03-agent-ru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765" y="1637030"/>
            <a:ext cx="5670550" cy="3938270"/>
          </a:xfrm>
          <a:prstGeom prst="rect">
            <a:avLst/>
          </a:prstGeom>
        </p:spPr>
      </p:pic>
      <p:sp>
        <p:nvSpPr>
          <p:cNvPr id="39" name="Oval 38"/>
          <p:cNvSpPr/>
          <p:nvPr>
            <p:custDataLst>
              <p:tags r:id="rId3"/>
            </p:custDataLst>
          </p:nvPr>
        </p:nvSpPr>
        <p:spPr>
          <a:xfrm>
            <a:off x="868680" y="4105655"/>
            <a:ext cx="100584" cy="100584"/>
          </a:xfrm>
          <a:prstGeom prst="ellipse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>
            <p:custDataLst>
              <p:tags r:id="rId4"/>
            </p:custDataLst>
          </p:nvPr>
        </p:nvSpPr>
        <p:spPr>
          <a:xfrm>
            <a:off x="1143000" y="3977639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50">
                <a:solidFill>
                  <a:srgbClr val="1D1B1B"/>
                </a:solidFill>
                <a:latin typeface="微软雅黑" panose="020B0503020204020204" charset="-122"/>
              </a:rPr>
              <a:t>Agent A：爆款开头与平台节奏</a:t>
            </a:r>
            <a:endParaRPr sz="1750">
              <a:solidFill>
                <a:srgbClr val="1D1B1B"/>
              </a:solidFill>
              <a:latin typeface="Aptos"/>
            </a:endParaRPr>
          </a:p>
        </p:txBody>
      </p:sp>
      <p:sp>
        <p:nvSpPr>
          <p:cNvPr id="41" name="Oval 40"/>
          <p:cNvSpPr/>
          <p:nvPr>
            <p:custDataLst>
              <p:tags r:id="rId5"/>
            </p:custDataLst>
          </p:nvPr>
        </p:nvSpPr>
        <p:spPr>
          <a:xfrm>
            <a:off x="868680" y="4672583"/>
            <a:ext cx="100584" cy="100584"/>
          </a:xfrm>
          <a:prstGeom prst="ellipse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>
            <p:custDataLst>
              <p:tags r:id="rId6"/>
            </p:custDataLst>
          </p:nvPr>
        </p:nvSpPr>
        <p:spPr>
          <a:xfrm>
            <a:off x="1143000" y="4544568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50">
                <a:solidFill>
                  <a:srgbClr val="1D1B1B"/>
                </a:solidFill>
                <a:latin typeface="微软雅黑" panose="020B0503020204020204" charset="-122"/>
              </a:rPr>
              <a:t>Agent B：真实创作者语气</a:t>
            </a:r>
            <a:endParaRPr sz="1750">
              <a:solidFill>
                <a:srgbClr val="1D1B1B"/>
              </a:solidFill>
              <a:latin typeface="Aptos"/>
            </a:endParaRPr>
          </a:p>
        </p:txBody>
      </p:sp>
      <p:sp>
        <p:nvSpPr>
          <p:cNvPr id="43" name="Oval 42"/>
          <p:cNvSpPr/>
          <p:nvPr>
            <p:custDataLst>
              <p:tags r:id="rId7"/>
            </p:custDataLst>
          </p:nvPr>
        </p:nvSpPr>
        <p:spPr>
          <a:xfrm>
            <a:off x="868680" y="5239512"/>
            <a:ext cx="100584" cy="100584"/>
          </a:xfrm>
          <a:prstGeom prst="ellipse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>
            <p:custDataLst>
              <p:tags r:id="rId8"/>
            </p:custDataLst>
          </p:nvPr>
        </p:nvSpPr>
        <p:spPr>
          <a:xfrm>
            <a:off x="1143000" y="5111496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50">
                <a:solidFill>
                  <a:srgbClr val="1D1B1B"/>
                </a:solidFill>
                <a:latin typeface="微软雅黑" panose="020B0503020204020204" charset="-122"/>
              </a:rPr>
              <a:t>Agent C：结构与实用价值</a:t>
            </a:r>
            <a:endParaRPr sz="1750">
              <a:solidFill>
                <a:srgbClr val="1D1B1B"/>
              </a:solidFill>
              <a:latin typeface="Aptos"/>
            </a:endParaRPr>
          </a:p>
        </p:txBody>
      </p:sp>
      <p:sp>
        <p:nvSpPr>
          <p:cNvPr id="45" name="Oval 44"/>
          <p:cNvSpPr/>
          <p:nvPr>
            <p:custDataLst>
              <p:tags r:id="rId9"/>
            </p:custDataLst>
          </p:nvPr>
        </p:nvSpPr>
        <p:spPr>
          <a:xfrm>
            <a:off x="868680" y="5806439"/>
            <a:ext cx="100584" cy="100584"/>
          </a:xfrm>
          <a:prstGeom prst="ellipse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>
            <p:custDataLst>
              <p:tags r:id="rId10"/>
            </p:custDataLst>
          </p:nvPr>
        </p:nvSpPr>
        <p:spPr>
          <a:xfrm>
            <a:off x="1143000" y="5678423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50">
                <a:solidFill>
                  <a:srgbClr val="1D1B1B"/>
                </a:solidFill>
                <a:latin typeface="微软雅黑" panose="020B0503020204020204" charset="-122"/>
              </a:rPr>
              <a:t>Judge：选择赢家并给出理由</a:t>
            </a:r>
            <a:endParaRPr sz="1750">
              <a:solidFill>
                <a:srgbClr val="1D1B1B"/>
              </a:solidFill>
              <a:latin typeface="Aptos"/>
            </a:endParaRPr>
          </a:p>
        </p:txBody>
      </p:sp>
      <p:sp>
        <p:nvSpPr>
          <p:cNvPr id="47" name="Oval 46"/>
          <p:cNvSpPr/>
          <p:nvPr>
            <p:custDataLst>
              <p:tags r:id="rId11"/>
            </p:custDataLst>
          </p:nvPr>
        </p:nvSpPr>
        <p:spPr>
          <a:xfrm>
            <a:off x="868680" y="6373368"/>
            <a:ext cx="100584" cy="100584"/>
          </a:xfrm>
          <a:prstGeom prst="ellipse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>
            <p:custDataLst>
              <p:tags r:id="rId12"/>
            </p:custDataLst>
          </p:nvPr>
        </p:nvSpPr>
        <p:spPr>
          <a:xfrm>
            <a:off x="1143000" y="6245352"/>
            <a:ext cx="5669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50">
                <a:solidFill>
                  <a:srgbClr val="1D1B1B"/>
                </a:solidFill>
                <a:latin typeface="微软雅黑" panose="020B0503020204020204" charset="-122"/>
              </a:rPr>
              <a:t>Humanizer：最终清理与润色</a:t>
            </a:r>
            <a:endParaRPr sz="1750">
              <a:solidFill>
                <a:srgbClr val="1D1B1B"/>
              </a:solidFill>
              <a:latin typeface="Apto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3395960" y="7571231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45F58"/>
                </a:solidFill>
                <a:latin typeface="Aptos"/>
              </a:rPr>
              <a:t>06/12</a:t>
            </a:r>
            <a:endParaRPr sz="900" b="1">
              <a:solidFill>
                <a:srgbClr val="645F5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945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9260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782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097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412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043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4358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1673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8988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7315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146304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19456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292608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65760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43891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12064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85216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731520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80467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realskill-logo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438912"/>
            <a:ext cx="384048" cy="38404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15568" y="402336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D1B1B"/>
                </a:solidFill>
                <a:latin typeface="Aptos"/>
              </a:rPr>
              <a:t>RealSkill</a:t>
            </a:r>
            <a:endParaRPr sz="20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2960" y="107899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B90533"/>
                </a:solidFill>
                <a:latin typeface="微软雅黑" panose="020B0503020204020204" charset="-122"/>
              </a:rPr>
              <a:t>平台</a:t>
            </a:r>
            <a:endParaRPr sz="1050" b="1">
              <a:solidFill>
                <a:srgbClr val="B90533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2960" y="1417320"/>
            <a:ext cx="7680960" cy="1508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4600" b="1">
                <a:solidFill>
                  <a:srgbClr val="1D1B1B"/>
                </a:solidFill>
                <a:latin typeface="微软雅黑" panose="020B0503020204020204" charset="-122"/>
              </a:rPr>
              <a:t>支持国内与海外社交平台。</a:t>
            </a:r>
            <a:endParaRPr sz="4600" b="1">
              <a:solidFill>
                <a:srgbClr val="1D1B1B"/>
              </a:solidFill>
              <a:latin typeface="Aptos Display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68680" y="2788920"/>
            <a:ext cx="640080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>
                <a:solidFill>
                  <a:srgbClr val="645F58"/>
                </a:solidFill>
                <a:latin typeface="微软雅黑" panose="020B0503020204020204" charset="-122"/>
              </a:rPr>
              <a:t>同一套流程会根据发布平台调整默认语言和内容节奏。</a:t>
            </a:r>
            <a:endParaRPr sz="1800">
              <a:solidFill>
                <a:srgbClr val="645F58"/>
              </a:solidFill>
              <a:latin typeface="Aptos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914400" y="4069080"/>
            <a:ext cx="2788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E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4400" y="4069080"/>
            <a:ext cx="2788920" cy="54864"/>
          </a:xfrm>
          <a:prstGeom prst="rect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70432" y="4343400"/>
            <a:ext cx="22768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1B1B"/>
                </a:solidFill>
                <a:latin typeface="微软雅黑" panose="020B0503020204020204" charset="-122"/>
              </a:rPr>
              <a:t>小红书</a:t>
            </a:r>
            <a:endParaRPr sz="17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4069080" y="4069080"/>
            <a:ext cx="2788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E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069080" y="4069080"/>
            <a:ext cx="2788920" cy="54864"/>
          </a:xfrm>
          <a:prstGeom prst="rect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25112" y="4343400"/>
            <a:ext cx="22768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1B1B"/>
                </a:solidFill>
                <a:latin typeface="微软雅黑" panose="020B0503020204020204" charset="-122"/>
              </a:rPr>
              <a:t>微博</a:t>
            </a:r>
            <a:endParaRPr sz="17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7223760" y="4069080"/>
            <a:ext cx="2788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E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223760" y="4069080"/>
            <a:ext cx="2788920" cy="54864"/>
          </a:xfrm>
          <a:prstGeom prst="rect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79792" y="4343400"/>
            <a:ext cx="22768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1B1B"/>
                </a:solidFill>
                <a:latin typeface="微软雅黑" panose="020B0503020204020204" charset="-122"/>
              </a:rPr>
              <a:t>知乎</a:t>
            </a:r>
            <a:endParaRPr sz="17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10378440" y="4069080"/>
            <a:ext cx="2788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E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378440" y="4069080"/>
            <a:ext cx="2788920" cy="54864"/>
          </a:xfrm>
          <a:prstGeom prst="rect">
            <a:avLst/>
          </a:prstGeom>
          <a:solidFill>
            <a:srgbClr val="006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634472" y="4343400"/>
            <a:ext cx="22768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1B1B"/>
                </a:solidFill>
                <a:latin typeface="微软雅黑" panose="020B0503020204020204" charset="-122"/>
              </a:rPr>
              <a:t>X / Twitter</a:t>
            </a:r>
            <a:endParaRPr sz="17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914400" y="5074920"/>
            <a:ext cx="2788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E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14400" y="5074920"/>
            <a:ext cx="2788920" cy="54864"/>
          </a:xfrm>
          <a:prstGeom prst="rect">
            <a:avLst/>
          </a:prstGeom>
          <a:solidFill>
            <a:srgbClr val="006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70432" y="5349240"/>
            <a:ext cx="22768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1B1B"/>
                </a:solidFill>
                <a:latin typeface="微软雅黑" panose="020B0503020204020204" charset="-122"/>
              </a:rPr>
              <a:t>LinkedIn</a:t>
            </a:r>
            <a:endParaRPr sz="17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4069080" y="5074920"/>
            <a:ext cx="2788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E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069080" y="5074920"/>
            <a:ext cx="2788920" cy="54864"/>
          </a:xfrm>
          <a:prstGeom prst="rect">
            <a:avLst/>
          </a:prstGeom>
          <a:solidFill>
            <a:srgbClr val="006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25112" y="5349240"/>
            <a:ext cx="22768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1B1B"/>
                </a:solidFill>
                <a:latin typeface="微软雅黑" panose="020B0503020204020204" charset="-122"/>
              </a:rPr>
              <a:t>Instagram</a:t>
            </a:r>
            <a:endParaRPr sz="17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61" name="Rounded Rectangle 60"/>
          <p:cNvSpPr/>
          <p:nvPr/>
        </p:nvSpPr>
        <p:spPr>
          <a:xfrm>
            <a:off x="7223760" y="5074920"/>
            <a:ext cx="278892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E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223760" y="5074920"/>
            <a:ext cx="2788920" cy="54864"/>
          </a:xfrm>
          <a:prstGeom prst="rect">
            <a:avLst/>
          </a:prstGeom>
          <a:solidFill>
            <a:srgbClr val="006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479792" y="5349240"/>
            <a:ext cx="22768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1B1B"/>
                </a:solidFill>
                <a:latin typeface="微软雅黑" panose="020B0503020204020204" charset="-122"/>
              </a:rPr>
              <a:t>TikTok</a:t>
            </a:r>
            <a:endParaRPr sz="17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3395960" y="7571231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45F58"/>
                </a:solidFill>
                <a:latin typeface="Aptos"/>
              </a:rPr>
              <a:t>07/12</a:t>
            </a:r>
            <a:endParaRPr sz="900" b="1">
              <a:solidFill>
                <a:srgbClr val="645F5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945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9260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782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097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412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043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4358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1673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8988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7315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146304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19456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292608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65760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43891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12064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85216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731520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80467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realskill-logo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438912"/>
            <a:ext cx="384048" cy="38404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15568" y="402336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D1B1B"/>
                </a:solidFill>
                <a:latin typeface="Aptos"/>
              </a:rPr>
              <a:t>RealSkill</a:t>
            </a:r>
            <a:endParaRPr sz="20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2960" y="107899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B90533"/>
                </a:solidFill>
                <a:latin typeface="微软雅黑" panose="020B0503020204020204" charset="-122"/>
              </a:rPr>
              <a:t>产品</a:t>
            </a:r>
            <a:endParaRPr sz="1050" b="1">
              <a:solidFill>
                <a:srgbClr val="B90533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2960" y="1417320"/>
            <a:ext cx="7863840" cy="1508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4200" b="1">
                <a:solidFill>
                  <a:srgbClr val="1D1B1B"/>
                </a:solidFill>
                <a:latin typeface="微软雅黑" panose="020B0503020204020204" charset="-122"/>
              </a:rPr>
              <a:t>完整网页体验，不是停留在 PPT 的概念。</a:t>
            </a:r>
            <a:endParaRPr sz="4200" b="1">
              <a:solidFill>
                <a:srgbClr val="1D1B1B"/>
              </a:solidFill>
              <a:latin typeface="Aptos Display"/>
            </a:endParaRPr>
          </a:p>
        </p:txBody>
      </p:sp>
      <p:pic>
        <p:nvPicPr>
          <p:cNvPr id="37" name="Picture 36" descr="01-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330" y="2850515"/>
            <a:ext cx="4099560" cy="2847340"/>
          </a:xfrm>
          <a:prstGeom prst="rect">
            <a:avLst/>
          </a:prstGeom>
        </p:spPr>
      </p:pic>
      <p:pic>
        <p:nvPicPr>
          <p:cNvPr id="39" name="Picture 38" descr="02-gener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8285" y="2926080"/>
            <a:ext cx="4114800" cy="2857500"/>
          </a:xfrm>
          <a:prstGeom prst="rect">
            <a:avLst/>
          </a:prstGeom>
        </p:spPr>
      </p:pic>
      <p:pic>
        <p:nvPicPr>
          <p:cNvPr id="41" name="Picture 40" descr="04-repo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99320" y="2850515"/>
            <a:ext cx="4114800" cy="285750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3395960" y="7571231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45F58"/>
                </a:solidFill>
                <a:latin typeface="Aptos"/>
              </a:rPr>
              <a:t>08/12</a:t>
            </a:r>
            <a:endParaRPr sz="900" b="1">
              <a:solidFill>
                <a:srgbClr val="645F5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945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9260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782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097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412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043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4358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1673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8988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7315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146304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19456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292608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65760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43891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12064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85216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731520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80467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realskill-logo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438912"/>
            <a:ext cx="384048" cy="38404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15568" y="402336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D1B1B"/>
                </a:solidFill>
                <a:latin typeface="Aptos"/>
              </a:rPr>
              <a:t>RealSkill</a:t>
            </a:r>
            <a:endParaRPr sz="20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2960" y="107899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B90533"/>
                </a:solidFill>
                <a:latin typeface="微软雅黑" panose="020B0503020204020204" charset="-122"/>
              </a:rPr>
              <a:t>差异点</a:t>
            </a:r>
            <a:endParaRPr sz="1050" b="1">
              <a:solidFill>
                <a:srgbClr val="B90533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2960" y="1417320"/>
            <a:ext cx="7498079" cy="1508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4600" b="1">
                <a:solidFill>
                  <a:srgbClr val="1D1B1B"/>
                </a:solidFill>
                <a:latin typeface="微软雅黑" panose="020B0503020204020204" charset="-122"/>
              </a:rPr>
              <a:t>从一次性 Prompt 输出，到可复用内容资产。</a:t>
            </a:r>
            <a:endParaRPr sz="4600" b="1">
              <a:solidFill>
                <a:srgbClr val="1D1B1B"/>
              </a:solidFill>
              <a:latin typeface="Aptos Display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68680" y="2834640"/>
            <a:ext cx="621792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>
                <a:solidFill>
                  <a:srgbClr val="645F58"/>
                </a:solidFill>
                <a:latin typeface="微软雅黑" panose="020B0503020204020204" charset="-122"/>
              </a:rPr>
              <a:t>RealSkill 展示推理、备选草稿和评分，让创作者更容易信任并复用结果。</a:t>
            </a:r>
            <a:endParaRPr sz="1800">
              <a:solidFill>
                <a:srgbClr val="645F58"/>
              </a:solidFill>
              <a:latin typeface="Aptos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7452360" y="1508760"/>
            <a:ext cx="29718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452360" y="1508760"/>
            <a:ext cx="2971800" cy="54864"/>
          </a:xfrm>
          <a:prstGeom prst="rect">
            <a:avLst/>
          </a:prstGeom>
          <a:solidFill>
            <a:srgbClr val="006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08392" y="1783080"/>
            <a:ext cx="24597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1B1B"/>
                </a:solidFill>
                <a:latin typeface="微软雅黑" panose="020B0503020204020204" charset="-122"/>
              </a:rPr>
              <a:t>检索</a:t>
            </a:r>
            <a:endParaRPr sz="17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708392" y="2286000"/>
            <a:ext cx="24597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645F58"/>
                </a:solidFill>
                <a:latin typeface="微软雅黑" panose="020B0503020204020204" charset="-122"/>
              </a:rPr>
              <a:t>本地趋势记忆先参与写作。</a:t>
            </a:r>
            <a:endParaRPr sz="1350">
              <a:solidFill>
                <a:srgbClr val="645F58"/>
              </a:solidFill>
              <a:latin typeface="Aptos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10698480" y="1508760"/>
            <a:ext cx="29718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698480" y="1508760"/>
            <a:ext cx="2971800" cy="54864"/>
          </a:xfrm>
          <a:prstGeom prst="rect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54511" y="1783080"/>
            <a:ext cx="24597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1B1B"/>
                </a:solidFill>
                <a:latin typeface="微软雅黑" panose="020B0503020204020204" charset="-122"/>
              </a:rPr>
              <a:t>Agent 面板</a:t>
            </a:r>
            <a:endParaRPr sz="17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0954511" y="2286000"/>
            <a:ext cx="24597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645F58"/>
                </a:solidFill>
                <a:latin typeface="微软雅黑" panose="020B0503020204020204" charset="-122"/>
              </a:rPr>
              <a:t>三种策略竞争，而不是只给一个答案。</a:t>
            </a:r>
            <a:endParaRPr sz="1350">
              <a:solidFill>
                <a:srgbClr val="645F58"/>
              </a:solidFill>
              <a:latin typeface="Aptos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7452360" y="3657600"/>
            <a:ext cx="29718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452360" y="3657600"/>
            <a:ext cx="2971800" cy="54864"/>
          </a:xfrm>
          <a:prstGeom prst="rect">
            <a:avLst/>
          </a:prstGeom>
          <a:solidFill>
            <a:srgbClr val="275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08392" y="3931920"/>
            <a:ext cx="24597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1B1B"/>
                </a:solidFill>
                <a:latin typeface="微软雅黑" panose="020B0503020204020204" charset="-122"/>
              </a:rPr>
              <a:t>Judge</a:t>
            </a:r>
            <a:endParaRPr sz="17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7708392" y="4434840"/>
            <a:ext cx="24597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645F58"/>
                </a:solidFill>
                <a:latin typeface="微软雅黑" panose="020B0503020204020204" charset="-122"/>
              </a:rPr>
              <a:t>选择过程有评分和解释。</a:t>
            </a:r>
            <a:endParaRPr sz="1350">
              <a:solidFill>
                <a:srgbClr val="645F58"/>
              </a:solidFill>
              <a:latin typeface="Aptos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10698480" y="3657600"/>
            <a:ext cx="29718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E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698480" y="3657600"/>
            <a:ext cx="2971800" cy="54864"/>
          </a:xfrm>
          <a:prstGeom prst="rect">
            <a:avLst/>
          </a:prstGeom>
          <a:solidFill>
            <a:srgbClr val="B97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954511" y="3931920"/>
            <a:ext cx="245973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1B1B"/>
                </a:solidFill>
                <a:latin typeface="微软雅黑" panose="020B0503020204020204" charset="-122"/>
              </a:rPr>
              <a:t>报告</a:t>
            </a:r>
            <a:endParaRPr sz="17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0954511" y="4434840"/>
            <a:ext cx="245973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645F58"/>
                </a:solidFill>
                <a:latin typeface="微软雅黑" panose="020B0503020204020204" charset="-122"/>
              </a:rPr>
              <a:t>最终结果包含草稿、风险和图表。</a:t>
            </a:r>
            <a:endParaRPr sz="1350">
              <a:solidFill>
                <a:srgbClr val="645F58"/>
              </a:solidFill>
              <a:latin typeface="Aptos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3395960" y="7571231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45F58"/>
                </a:solidFill>
                <a:latin typeface="Aptos"/>
              </a:rPr>
              <a:t>09/12</a:t>
            </a:r>
            <a:endParaRPr sz="900" b="1">
              <a:solidFill>
                <a:srgbClr val="645F5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945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9260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782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097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412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043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4358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1673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8988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7315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146304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19456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292608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65760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43891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12064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85216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731520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80467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realskill-logo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438912"/>
            <a:ext cx="384048" cy="38404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15568" y="402336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D1B1B"/>
                </a:solidFill>
                <a:latin typeface="Aptos"/>
              </a:rPr>
              <a:t>RealSkill</a:t>
            </a:r>
            <a:endParaRPr sz="20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2960" y="107899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B90533"/>
                </a:solidFill>
                <a:latin typeface="微软雅黑" panose="020B0503020204020204" charset="-122"/>
              </a:rPr>
              <a:t>技术架构</a:t>
            </a:r>
            <a:endParaRPr sz="1050" b="1">
              <a:solidFill>
                <a:srgbClr val="B90533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2960" y="1417320"/>
            <a:ext cx="7406640" cy="1508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4600" b="1">
                <a:solidFill>
                  <a:srgbClr val="1D1B1B"/>
                </a:solidFill>
                <a:latin typeface="微软雅黑" panose="020B0503020204020204" charset="-122"/>
              </a:rPr>
              <a:t>FastAPI 网页工作台 + 可被 Agent 调用的核心能力。</a:t>
            </a:r>
            <a:endParaRPr sz="4600" b="1">
              <a:solidFill>
                <a:srgbClr val="1D1B1B"/>
              </a:solidFill>
              <a:latin typeface="Aptos Display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868680" y="3054096"/>
            <a:ext cx="100584" cy="100584"/>
          </a:xfrm>
          <a:prstGeom prst="ellipse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2926080"/>
            <a:ext cx="6583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D1B1B"/>
                </a:solidFill>
                <a:latin typeface="微软雅黑" panose="020B0503020204020204" charset="-122"/>
              </a:rPr>
              <a:t>FastAPI 提供 UI 和 /generate 接口</a:t>
            </a:r>
            <a:endParaRPr sz="1800">
              <a:solidFill>
                <a:srgbClr val="1D1B1B"/>
              </a:solidFill>
              <a:latin typeface="Aptos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868680" y="3621024"/>
            <a:ext cx="100584" cy="100584"/>
          </a:xfrm>
          <a:prstGeom prst="ellipse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3493008"/>
            <a:ext cx="6583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D1B1B"/>
                </a:solidFill>
                <a:latin typeface="微软雅黑" panose="020B0503020204020204" charset="-122"/>
              </a:rPr>
              <a:t>ChromaDB 存储本地爆款记忆</a:t>
            </a:r>
            <a:endParaRPr sz="1800">
              <a:solidFill>
                <a:srgbClr val="1D1B1B"/>
              </a:solidFill>
              <a:latin typeface="Aptos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868680" y="4187952"/>
            <a:ext cx="100584" cy="100584"/>
          </a:xfrm>
          <a:prstGeom prst="ellipse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4059936"/>
            <a:ext cx="6583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D1B1B"/>
                </a:solidFill>
                <a:latin typeface="微软雅黑" panose="020B0503020204020204" charset="-122"/>
              </a:rPr>
              <a:t>OpenAI 兼容 API 负责起草和评审</a:t>
            </a:r>
            <a:endParaRPr sz="1800">
              <a:solidFill>
                <a:srgbClr val="1D1B1B"/>
              </a:solidFill>
              <a:latin typeface="Aptos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868680" y="4754880"/>
            <a:ext cx="100584" cy="100584"/>
          </a:xfrm>
          <a:prstGeom prst="ellipse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43000" y="4626864"/>
            <a:ext cx="6583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D1B1B"/>
                </a:solidFill>
                <a:latin typeface="微软雅黑" panose="020B0503020204020204" charset="-122"/>
              </a:rPr>
              <a:t>静态 HTML/CSS/JS 保持部署简单</a:t>
            </a:r>
            <a:endParaRPr sz="1800">
              <a:solidFill>
                <a:srgbClr val="1D1B1B"/>
              </a:solidFill>
              <a:latin typeface="Aptos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868680" y="5321807"/>
            <a:ext cx="100584" cy="100584"/>
          </a:xfrm>
          <a:prstGeom prst="ellipse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5193792"/>
            <a:ext cx="6583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1D1B1B"/>
                </a:solidFill>
                <a:latin typeface="微软雅黑" panose="020B0503020204020204" charset="-122"/>
              </a:rPr>
              <a:t>Skill manifest 将能力暴露给 Agent</a:t>
            </a:r>
            <a:endParaRPr sz="1800">
              <a:solidFill>
                <a:srgbClr val="1D1B1B"/>
              </a:solidFill>
              <a:latin typeface="Aptos"/>
            </a:endParaRPr>
          </a:p>
        </p:txBody>
      </p:sp>
      <p:pic>
        <p:nvPicPr>
          <p:cNvPr id="47" name="Picture 46" descr="05-api-do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8395" y="1828800"/>
            <a:ext cx="4740249" cy="329184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13395960" y="7571231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45F58"/>
                </a:solidFill>
                <a:latin typeface="Aptos"/>
              </a:rPr>
              <a:t>10/12</a:t>
            </a:r>
            <a:endParaRPr sz="900" b="1">
              <a:solidFill>
                <a:srgbClr val="645F5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945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9260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782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097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412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043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4358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1673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8988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7315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146304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19456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292608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65760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43891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12064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85216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731520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80467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realskill-logo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438912"/>
            <a:ext cx="384048" cy="38404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15568" y="402336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D1B1B"/>
                </a:solidFill>
                <a:latin typeface="Aptos"/>
              </a:rPr>
              <a:t>RealSkill</a:t>
            </a:r>
            <a:endParaRPr sz="20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2960" y="107899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B90533"/>
                </a:solidFill>
                <a:latin typeface="微软雅黑" panose="020B0503020204020204" charset="-122"/>
              </a:rPr>
              <a:t>Agent Skill 层</a:t>
            </a:r>
            <a:endParaRPr sz="1050" b="1">
              <a:solidFill>
                <a:srgbClr val="B90533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2960" y="1417320"/>
            <a:ext cx="7680960" cy="1508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4600" b="1">
                <a:solidFill>
                  <a:srgbClr val="1D1B1B"/>
                </a:solidFill>
                <a:latin typeface="微软雅黑" panose="020B0503020204020204" charset="-122"/>
              </a:rPr>
              <a:t>网页只是一个入口，Agent 也可以直接调用。</a:t>
            </a:r>
            <a:endParaRPr sz="4600" b="1">
              <a:solidFill>
                <a:srgbClr val="1D1B1B"/>
              </a:solidFill>
              <a:latin typeface="Aptos Display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68680" y="2926080"/>
            <a:ext cx="6400800" cy="1280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800">
                <a:solidFill>
                  <a:srgbClr val="645F58"/>
                </a:solidFill>
                <a:latin typeface="微软雅黑" panose="020B0503020204020204" charset="-122"/>
              </a:rPr>
              <a:t>RealSkill 提供发现 schema，也可以打包成本地 skill，让同一能力在网页外继续使用。</a:t>
            </a:r>
            <a:endParaRPr sz="1800">
              <a:solidFill>
                <a:srgbClr val="645F58"/>
              </a:solidFill>
              <a:latin typeface="Aptos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914400" y="4389120"/>
            <a:ext cx="3931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14400" y="4389120"/>
            <a:ext cx="3931920" cy="54864"/>
          </a:xfrm>
          <a:prstGeom prst="rect">
            <a:avLst/>
          </a:prstGeom>
          <a:solidFill>
            <a:srgbClr val="2759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70432" y="4663440"/>
            <a:ext cx="34198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1B1B"/>
                </a:solidFill>
                <a:latin typeface="微软雅黑" panose="020B0503020204020204" charset="-122"/>
              </a:rPr>
              <a:t>发现</a:t>
            </a:r>
            <a:endParaRPr sz="17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170432" y="5166359"/>
            <a:ext cx="341985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645F58"/>
                </a:solidFill>
                <a:latin typeface="微软雅黑" panose="020B0503020204020204" charset="-122"/>
              </a:rPr>
              <a:t>GET /.well-known/skill.json 暴露可调用 schema。</a:t>
            </a:r>
            <a:endParaRPr sz="1350">
              <a:solidFill>
                <a:srgbClr val="645F58"/>
              </a:solidFill>
              <a:latin typeface="Aptos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5349240" y="4389120"/>
            <a:ext cx="3931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349240" y="4389120"/>
            <a:ext cx="3931920" cy="54864"/>
          </a:xfrm>
          <a:prstGeom prst="rect">
            <a:avLst/>
          </a:prstGeom>
          <a:solidFill>
            <a:srgbClr val="006A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05272" y="4663440"/>
            <a:ext cx="34198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1B1B"/>
                </a:solidFill>
                <a:latin typeface="微软雅黑" panose="020B0503020204020204" charset="-122"/>
              </a:rPr>
              <a:t>本地包</a:t>
            </a:r>
            <a:endParaRPr sz="17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605272" y="5166359"/>
            <a:ext cx="341985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645F58"/>
                </a:solidFill>
                <a:latin typeface="微软雅黑" panose="020B0503020204020204" charset="-122"/>
              </a:rPr>
              <a:t>build_skill_zip.py 生成 RealSkill_agent.zip。</a:t>
            </a:r>
            <a:endParaRPr sz="1350">
              <a:solidFill>
                <a:srgbClr val="645F58"/>
              </a:solidFill>
              <a:latin typeface="Aptos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9784080" y="4389120"/>
            <a:ext cx="39319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E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784080" y="4389120"/>
            <a:ext cx="3931920" cy="54864"/>
          </a:xfrm>
          <a:prstGeom prst="rect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40111" y="4663440"/>
            <a:ext cx="341985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1B1B"/>
                </a:solidFill>
                <a:latin typeface="微软雅黑" panose="020B0503020204020204" charset="-122"/>
              </a:rPr>
              <a:t>共享核心</a:t>
            </a:r>
            <a:endParaRPr sz="17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10040111" y="5166359"/>
            <a:ext cx="3419856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645F58"/>
                </a:solidFill>
                <a:latin typeface="微软雅黑" panose="020B0503020204020204" charset="-122"/>
              </a:rPr>
              <a:t>同一个生成核心服务网页和本地 Agent。</a:t>
            </a:r>
            <a:endParaRPr sz="1350">
              <a:solidFill>
                <a:srgbClr val="645F58"/>
              </a:solidFill>
              <a:latin typeface="Apto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3395960" y="7571231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45F58"/>
                </a:solidFill>
                <a:latin typeface="Aptos"/>
              </a:rPr>
              <a:t>11/12</a:t>
            </a:r>
            <a:endParaRPr sz="900" b="1">
              <a:solidFill>
                <a:srgbClr val="645F58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4630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1945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9260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891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521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782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5097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2412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0432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243584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16736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898880" y="0"/>
            <a:ext cx="3657" cy="8229600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7315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146304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219456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292608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65760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43891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512064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585216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58368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731520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8046720"/>
            <a:ext cx="14630400" cy="3657"/>
          </a:xfrm>
          <a:prstGeom prst="rect">
            <a:avLst/>
          </a:prstGeom>
          <a:solidFill>
            <a:srgbClr val="F7EE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realskill-logo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438912"/>
            <a:ext cx="384048" cy="38404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115568" y="402336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D1B1B"/>
                </a:solidFill>
                <a:latin typeface="Aptos"/>
              </a:rPr>
              <a:t>RealSkill</a:t>
            </a:r>
            <a:endParaRPr sz="20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2960" y="1078992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 b="1">
                <a:solidFill>
                  <a:srgbClr val="B90533"/>
                </a:solidFill>
                <a:latin typeface="微软雅黑" panose="020B0503020204020204" charset="-122"/>
              </a:rPr>
              <a:t>路线图</a:t>
            </a:r>
            <a:endParaRPr sz="1050" b="1">
              <a:solidFill>
                <a:srgbClr val="B90533"/>
              </a:solidFill>
              <a:latin typeface="Apto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2960" y="1417320"/>
            <a:ext cx="7315200" cy="1508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4600" b="1">
                <a:solidFill>
                  <a:srgbClr val="1D1B1B"/>
                </a:solidFill>
                <a:latin typeface="微软雅黑" panose="020B0503020204020204" charset="-122"/>
              </a:rPr>
              <a:t>走向创作者工作流层。</a:t>
            </a:r>
            <a:endParaRPr sz="4600" b="1">
              <a:solidFill>
                <a:srgbClr val="1D1B1B"/>
              </a:solidFill>
              <a:latin typeface="Aptos Display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868680" y="3008376"/>
            <a:ext cx="100584" cy="100584"/>
          </a:xfrm>
          <a:prstGeom prst="ellipse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2880360"/>
            <a:ext cx="7132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>
                <a:solidFill>
                  <a:srgbClr val="1D1B1B"/>
                </a:solidFill>
                <a:latin typeface="微软雅黑" panose="020B0503020204020204" charset="-122"/>
              </a:rPr>
              <a:t>持久化生成历史和保存报告</a:t>
            </a:r>
            <a:endParaRPr sz="1850">
              <a:solidFill>
                <a:srgbClr val="1D1B1B"/>
              </a:solidFill>
              <a:latin typeface="Aptos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868680" y="3575304"/>
            <a:ext cx="100584" cy="100584"/>
          </a:xfrm>
          <a:prstGeom prst="ellipse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43000" y="3447288"/>
            <a:ext cx="7132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>
                <a:solidFill>
                  <a:srgbClr val="1D1B1B"/>
                </a:solidFill>
                <a:latin typeface="微软雅黑" panose="020B0503020204020204" charset="-122"/>
              </a:rPr>
              <a:t>团队工作区和共享品牌记忆</a:t>
            </a:r>
            <a:endParaRPr sz="1850">
              <a:solidFill>
                <a:srgbClr val="1D1B1B"/>
              </a:solidFill>
              <a:latin typeface="Aptos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868680" y="4142231"/>
            <a:ext cx="100584" cy="100584"/>
          </a:xfrm>
          <a:prstGeom prst="ellipse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4014215"/>
            <a:ext cx="7132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>
                <a:solidFill>
                  <a:srgbClr val="1D1B1B"/>
                </a:solidFill>
                <a:latin typeface="微软雅黑" panose="020B0503020204020204" charset="-122"/>
              </a:rPr>
              <a:t>更多海外平台趋势连接器</a:t>
            </a:r>
            <a:endParaRPr sz="1850">
              <a:solidFill>
                <a:srgbClr val="1D1B1B"/>
              </a:solidFill>
              <a:latin typeface="Aptos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868680" y="4709159"/>
            <a:ext cx="100584" cy="100584"/>
          </a:xfrm>
          <a:prstGeom prst="ellipse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43000" y="4581144"/>
            <a:ext cx="7132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>
                <a:solidFill>
                  <a:srgbClr val="1D1B1B"/>
                </a:solidFill>
                <a:latin typeface="微软雅黑" panose="020B0503020204020204" charset="-122"/>
              </a:rPr>
              <a:t>图片卡片和 PDF 报告导出</a:t>
            </a:r>
            <a:endParaRPr sz="1850">
              <a:solidFill>
                <a:srgbClr val="1D1B1B"/>
              </a:solidFill>
              <a:latin typeface="Aptos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868680" y="5276088"/>
            <a:ext cx="100584" cy="100584"/>
          </a:xfrm>
          <a:prstGeom prst="ellipse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3000" y="5148072"/>
            <a:ext cx="7132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50">
                <a:solidFill>
                  <a:srgbClr val="1D1B1B"/>
                </a:solidFill>
                <a:latin typeface="微软雅黑" panose="020B0503020204020204" charset="-122"/>
              </a:rPr>
              <a:t>更深入的平台适配和用户意图分析</a:t>
            </a:r>
            <a:endParaRPr sz="1850">
              <a:solidFill>
                <a:srgbClr val="1D1B1B"/>
              </a:solidFill>
              <a:latin typeface="Aptos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9144000" y="2743200"/>
            <a:ext cx="420624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ED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0" y="2743200"/>
            <a:ext cx="4206240" cy="54864"/>
          </a:xfrm>
          <a:prstGeom prst="rect">
            <a:avLst/>
          </a:prstGeom>
          <a:solidFill>
            <a:srgbClr val="B90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00032" y="3017520"/>
            <a:ext cx="3694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1D1B1B"/>
                </a:solidFill>
                <a:latin typeface="微软雅黑" panose="020B0503020204020204" charset="-122"/>
              </a:rPr>
              <a:t>演示链接</a:t>
            </a:r>
            <a:endParaRPr sz="1700" b="1">
              <a:solidFill>
                <a:srgbClr val="1D1B1B"/>
              </a:solidFill>
              <a:latin typeface="Aptos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400032" y="3520440"/>
            <a:ext cx="3694175" cy="299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350">
                <a:solidFill>
                  <a:srgbClr val="645F58"/>
                </a:solidFill>
                <a:latin typeface="Aptos"/>
              </a:rPr>
              <a:t>待补充</a:t>
            </a:r>
            <a:endParaRPr lang="en-US" altLang="zh-CN" sz="1350">
              <a:solidFill>
                <a:srgbClr val="645F58"/>
              </a:solidFill>
              <a:latin typeface="Aptos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3395960" y="7571231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645F58"/>
                </a:solidFill>
                <a:latin typeface="Aptos"/>
              </a:rPr>
              <a:t>12/12</a:t>
            </a:r>
            <a:endParaRPr sz="900" b="1">
              <a:solidFill>
                <a:srgbClr val="645F58"/>
              </a:solidFill>
              <a:latin typeface="Aptos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10.24007874015757,&quot;left&quot;:68.4,&quot;top&quot;:313.1999212598425,&quot;width&quot;:468}"/>
</p:tagLst>
</file>

<file path=ppt/tags/tag2.xml><?xml version="1.0" encoding="utf-8"?>
<p:tagLst xmlns:p="http://schemas.openxmlformats.org/presentationml/2006/main">
  <p:tag name="KSO_WM_DIAGRAM_VIRTUALLY_FRAME" val="{&quot;height&quot;:210.24007874015757,&quot;left&quot;:68.4,&quot;top&quot;:313.1999212598425,&quot;width&quot;:468}"/>
</p:tagLst>
</file>

<file path=ppt/tags/tag3.xml><?xml version="1.0" encoding="utf-8"?>
<p:tagLst xmlns:p="http://schemas.openxmlformats.org/presentationml/2006/main">
  <p:tag name="KSO_WM_DIAGRAM_VIRTUALLY_FRAME" val="{&quot;height&quot;:210.24007874015757,&quot;left&quot;:68.4,&quot;top&quot;:313.1999212598425,&quot;width&quot;:468}"/>
</p:tagLst>
</file>

<file path=ppt/tags/tag4.xml><?xml version="1.0" encoding="utf-8"?>
<p:tagLst xmlns:p="http://schemas.openxmlformats.org/presentationml/2006/main">
  <p:tag name="KSO_WM_DIAGRAM_VIRTUALLY_FRAME" val="{&quot;height&quot;:210.24007874015757,&quot;left&quot;:68.4,&quot;top&quot;:313.1999212598425,&quot;width&quot;:468}"/>
</p:tagLst>
</file>

<file path=ppt/tags/tag5.xml><?xml version="1.0" encoding="utf-8"?>
<p:tagLst xmlns:p="http://schemas.openxmlformats.org/presentationml/2006/main">
  <p:tag name="KSO_WM_DIAGRAM_VIRTUALLY_FRAME" val="{&quot;height&quot;:210.24007874015757,&quot;left&quot;:68.4,&quot;top&quot;:313.1999212598425,&quot;width&quot;:468}"/>
</p:tagLst>
</file>

<file path=ppt/tags/tag6.xml><?xml version="1.0" encoding="utf-8"?>
<p:tagLst xmlns:p="http://schemas.openxmlformats.org/presentationml/2006/main">
  <p:tag name="KSO_WM_DIAGRAM_VIRTUALLY_FRAME" val="{&quot;height&quot;:210.24007874015757,&quot;left&quot;:68.4,&quot;top&quot;:313.1999212598425,&quot;width&quot;:468}"/>
</p:tagLst>
</file>

<file path=ppt/tags/tag7.xml><?xml version="1.0" encoding="utf-8"?>
<p:tagLst xmlns:p="http://schemas.openxmlformats.org/presentationml/2006/main">
  <p:tag name="KSO_WM_DIAGRAM_VIRTUALLY_FRAME" val="{&quot;height&quot;:210.24007874015757,&quot;left&quot;:68.4,&quot;top&quot;:313.1999212598425,&quot;width&quot;:468}"/>
</p:tagLst>
</file>

<file path=ppt/tags/tag8.xml><?xml version="1.0" encoding="utf-8"?>
<p:tagLst xmlns:p="http://schemas.openxmlformats.org/presentationml/2006/main">
  <p:tag name="KSO_WM_DIAGRAM_VIRTUALLY_FRAME" val="{&quot;height&quot;:210.24007874015757,&quot;left&quot;:68.4,&quot;top&quot;:313.1999212598425,&quot;width&quot;:468}"/>
</p:tagLst>
</file>

<file path=ppt/tags/tag9.xml><?xml version="1.0" encoding="utf-8"?>
<p:tagLst xmlns:p="http://schemas.openxmlformats.org/presentationml/2006/main">
  <p:tag name="KSO_WM_DIAGRAM_VIRTUALLY_FRAME" val="{&quot;height&quot;:210.24007874015757,&quot;left&quot;:68.4,&quot;top&quot;:313.1999212598425,&quot;width&quot;:468}"/>
</p:tagLst>
</file>

<file path=ppt/tags/tag10.xml><?xml version="1.0" encoding="utf-8"?>
<p:tagLst xmlns:p="http://schemas.openxmlformats.org/presentationml/2006/main">
  <p:tag name="KSO_WM_DIAGRAM_VIRTUALLY_FRAME" val="{&quot;height&quot;:210.24007874015757,&quot;left&quot;:68.4,&quot;top&quot;:313.1999212598425,&quot;width&quot;:46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1552</Words>
  <Application>WPS 演示</Application>
  <PresentationFormat>On-screen Show (4:3)</PresentationFormat>
  <Paragraphs>244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6" baseType="lpstr">
      <vt:lpstr>Arial</vt:lpstr>
      <vt:lpstr>宋体</vt:lpstr>
      <vt:lpstr>Wingdings</vt:lpstr>
      <vt:lpstr>Arial</vt:lpstr>
      <vt:lpstr>Aptos</vt:lpstr>
      <vt:lpstr>Segoe UI</vt:lpstr>
      <vt:lpstr>微软雅黑</vt:lpstr>
      <vt:lpstr>Aptos Display</vt:lpstr>
      <vt:lpstr>Calibri</vt:lpstr>
      <vt:lpstr>Arial Unicode MS</vt:lpstr>
      <vt:lpstr>Aptos</vt:lpstr>
      <vt:lpstr>Aptos Display</vt:lpstr>
      <vt:lpstr>黑体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C</cp:lastModifiedBy>
  <cp:revision>3</cp:revision>
  <dcterms:created xsi:type="dcterms:W3CDTF">2013-01-27T09:14:00Z</dcterms:created>
  <dcterms:modified xsi:type="dcterms:W3CDTF">2026-06-03T17:20:32Z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E6ACB91536CC4501B531F4A0506297B3_12</vt:lpwstr>
  </property>
</Properties>
</file>